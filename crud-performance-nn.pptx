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Presentasjonen byggjer på README.md i MikAoJk/rust-kotlin-csharp-crud-performance. Tala gjeld dei registrerte lokale køyringane, ikkje ei generell rangering av språka. Talformatet i tabellar og diagram er halde likt som i kjelda.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Køyringane vart gjorde lokalt på same maskin. Arbeidslasta trappa opp til 1,000 CRUD-brukarar før nedtrapping, med éin ekstra overvakingsbrukar: maksimalt 1,001 virtuelle brukarar totalt. Overvakingsbrukaren samla CPU- og minnemålingar for prosessen.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HTTP-førespurnader totalt: C# 191,403; Kotlin 168,844; Rust 391,507. k6 sine aggregerte HTTP-tal inkluderer òg overvakingsførespurnader. Diagrammet startar ved null og bruker same skala for alle 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p95 er 95-persentilen: om lag 95 % av førespurnadene hadde ei responstid på eller under denne verdien. Merk ulike einingar i tabellen: millisekund og sekund. Maksimumsrada er oppgitt i sekund for alle 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Fullførte iterasjonar er ikkje det same som fullførte CRUD-syklusar, fordi overvakingsiterasjonar inngår i k6-totalane.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Gjennomsnittleg RSS: C# 166.72 MiB, Kotlin 201.56 MiB, Rust 23.42 MiB. Maksimal RSS: C# 355.40 MiB, Kotlin 292.98 MiB, Rust 42.24 MiB. C# hadde lågare gjennomsnittleg RSS enn Kotlin, men høgare maksimal RSS. Verdiane er sampla prosessmålingar, ikkje heile systemet sitt minneforbruk.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100 % beståtte sjekkar og null HTTP-feil gjeld berre denne arbeidslasta og dei registrerte køyringane. Dette dokumenterer ikkje at applikasjonane er feilfrie i alle situasjonar.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Ikkje generaliser frå desse applikasjonane til alle Rust-, Kotlin- eller C#-system. README dokumenterer same arbeidslast og lokale køyringar, men ikkje eit grunnlag for statistisk usikkerheit. Høgare gjennomstrøyming, lågare responstid og mindre RSS er observerte resultat, ikkje ein dokumentert årsaksanalyse.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Presentasjonen er basert på lokale README.md og RUNS.md. Kjeldelenkjene peikar på hovudgreinene og kan få nytt innhald seinare. Tala er presenterte med kjelda sitt talformat.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MikAoJk/rust-kotlin-csharp-crud-performance/blob/main/README.md" TargetMode="External"/><Relationship Id="rId3" Type="http://schemas.openxmlformats.org/officeDocument/2006/relationships/hyperlink" Target="https://github.com/MikAoJk/rust-kotlin-csharp-crud-performance/blob/main/RUNS.md" TargetMode="External"/><Relationship Id="rId4" Type="http://schemas.openxmlformats.org/officeDocument/2006/relationships/hyperlink" Target="https://github.com/MikAoJk/csharp-crud-rest-api" TargetMode="External"/><Relationship Id="rId5" Type="http://schemas.openxmlformats.org/officeDocument/2006/relationships/hyperlink" Target="https://github.com/MikAoJk/kotlin-ktor-crud-rest-api" TargetMode="External"/><Relationship Id="rId6" Type="http://schemas.openxmlformats.org/officeDocument/2006/relationships/hyperlink" Target="https://github.com/MikAoJk/rust-crud-rest-api" TargetMode="Externa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73152" cy="475488"/>
          </a:xfrm>
          <a:prstGeom prst="rect">
            <a:avLst/>
          </a:prstGeom>
          <a:solidFill>
            <a:srgbClr val="5CD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20624"/>
            <a:ext cx="1069848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F3F6FB"/>
                </a:solidFill>
                <a:latin typeface="Aptos"/>
              </a:rPr>
              <a:t>Rust, Kotlin og C#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15568"/>
            <a:ext cx="1069848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B4C1D3"/>
                </a:solidFill>
                <a:latin typeface="Aptos"/>
              </a:rPr>
              <a:t>Samanlikning av tre CRUD-applikasjonar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6364224"/>
            <a:ext cx="10652760" cy="10972"/>
          </a:xfrm>
          <a:prstGeom prst="rect">
            <a:avLst/>
          </a:prstGeom>
          <a:solidFill>
            <a:srgbClr val="354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510528"/>
            <a:ext cx="987552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B4C1D3"/>
                </a:solidFill>
                <a:latin typeface="Aptos"/>
              </a:rPr>
              <a:t>Kjelde: README.md | Lokale k6-køyringar | MikAoJk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200" b="0">
                <a:solidFill>
                  <a:srgbClr val="B4C1D3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10515600" cy="12344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3700" b="1">
                <a:solidFill>
                  <a:srgbClr val="F3F6FB"/>
                </a:solidFill>
                <a:latin typeface="Aptos"/>
              </a:rPr>
              <a:t>Same arbeidslast.</a:t>
            </a:r>
          </a:p>
          <a:p>
            <a:pPr>
              <a:spcAft>
                <a:spcPts val="1000"/>
              </a:spcAft>
            </a:pPr>
            <a:r>
              <a:rPr sz="3700" b="1">
                <a:solidFill>
                  <a:srgbClr val="F3F6FB"/>
                </a:solidFill>
                <a:latin typeface="Aptos"/>
              </a:rPr>
              <a:t>Ulik gjennomstrøyming og minnebruk.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520440"/>
            <a:ext cx="3383280" cy="2423160"/>
          </a:xfrm>
          <a:prstGeom prst="roundRect">
            <a:avLst/>
          </a:prstGeom>
          <a:solidFill>
            <a:srgbClr val="1B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3749039"/>
            <a:ext cx="2971800" cy="6400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3700" b="1">
                <a:solidFill>
                  <a:srgbClr val="9F97FF"/>
                </a:solidFill>
                <a:latin typeface="Aptos"/>
              </a:rPr>
              <a:t>930.90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4480560"/>
            <a:ext cx="2971800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F3F6FB"/>
                </a:solidFill>
                <a:latin typeface="Aptos"/>
              </a:rPr>
              <a:t>HTTP-førespurnader/s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5303520"/>
            <a:ext cx="297180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B4C1D3"/>
                </a:solidFill>
                <a:latin typeface="Aptos"/>
              </a:rPr>
              <a:t>Rust: høgast gjennomstrøyming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520440"/>
            <a:ext cx="3383280" cy="2423160"/>
          </a:xfrm>
          <a:prstGeom prst="roundRect">
            <a:avLst/>
          </a:prstGeom>
          <a:solidFill>
            <a:srgbClr val="1B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3749039"/>
            <a:ext cx="2971800" cy="6400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3700" b="1">
                <a:solidFill>
                  <a:srgbClr val="F2B766"/>
                </a:solidFill>
                <a:latin typeface="Aptos"/>
              </a:rPr>
              <a:t>23.42 MiB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4480560"/>
            <a:ext cx="2971800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F3F6FB"/>
                </a:solidFill>
                <a:latin typeface="Aptos"/>
              </a:rPr>
              <a:t>Gjennomsnittleg RSS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5303520"/>
            <a:ext cx="297180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B4C1D3"/>
                </a:solidFill>
                <a:latin typeface="Aptos"/>
              </a:rPr>
              <a:t>Rust: minst prosessminne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3520440"/>
            <a:ext cx="3383280" cy="2423160"/>
          </a:xfrm>
          <a:prstGeom prst="roundRect">
            <a:avLst/>
          </a:prstGeom>
          <a:solidFill>
            <a:srgbClr val="1B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2168" y="3749039"/>
            <a:ext cx="2971800" cy="6400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3700" b="1">
                <a:solidFill>
                  <a:srgbClr val="5CD4B2"/>
                </a:solidFill>
                <a:latin typeface="Aptos"/>
              </a:rPr>
              <a:t>100 %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4480560"/>
            <a:ext cx="2971800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F3F6FB"/>
                </a:solidFill>
                <a:latin typeface="Aptos"/>
              </a:rPr>
              <a:t>Beståtte sjekkar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8" y="5303520"/>
            <a:ext cx="297180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B4C1D3"/>
                </a:solidFill>
                <a:latin typeface="Aptos"/>
              </a:rPr>
              <a:t>Alle tre: ingen HTTP-feil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73152" cy="475488"/>
          </a:xfrm>
          <a:prstGeom prst="rect">
            <a:avLst/>
          </a:prstGeom>
          <a:solidFill>
            <a:srgbClr val="5CD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20624"/>
            <a:ext cx="1069848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F3F6FB"/>
                </a:solidFill>
                <a:latin typeface="Aptos"/>
              </a:rPr>
              <a:t>Slik vart testen køyrd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15568"/>
            <a:ext cx="1069848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B4C1D3"/>
                </a:solidFill>
                <a:latin typeface="Aptos"/>
              </a:rPr>
              <a:t>Same k6-arbeidslast for alle tre applikasjonane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6364224"/>
            <a:ext cx="10652760" cy="10972"/>
          </a:xfrm>
          <a:prstGeom prst="rect">
            <a:avLst/>
          </a:prstGeom>
          <a:solidFill>
            <a:srgbClr val="354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510528"/>
            <a:ext cx="987552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B4C1D3"/>
                </a:solidFill>
                <a:latin typeface="Aptos"/>
              </a:rPr>
              <a:t>Kjelde: README.md | Lokale k6-køyringar | MikAoJk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200" b="0">
                <a:solidFill>
                  <a:srgbClr val="B4C1D3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11680"/>
            <a:ext cx="3383280" cy="2423160"/>
          </a:xfrm>
          <a:prstGeom prst="roundRect">
            <a:avLst/>
          </a:prstGeom>
          <a:solidFill>
            <a:srgbClr val="1B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240280"/>
            <a:ext cx="2971800" cy="6400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3700" b="1">
                <a:solidFill>
                  <a:srgbClr val="9F97FF"/>
                </a:solidFill>
                <a:latin typeface="Aptos"/>
              </a:rPr>
              <a:t>7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971800"/>
            <a:ext cx="2971800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F3F6FB"/>
                </a:solidFill>
                <a:latin typeface="Aptos"/>
              </a:rPr>
              <a:t>Testlengd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3794760"/>
            <a:ext cx="297180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B4C1D3"/>
                </a:solidFill>
                <a:latin typeface="Aptos"/>
              </a:rPr>
              <a:t>Inkluderer opp- og nedtrapping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011680"/>
            <a:ext cx="3383280" cy="2423160"/>
          </a:xfrm>
          <a:prstGeom prst="roundRect">
            <a:avLst/>
          </a:prstGeom>
          <a:solidFill>
            <a:srgbClr val="1B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240280"/>
            <a:ext cx="2971800" cy="6400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3700" b="1">
                <a:solidFill>
                  <a:srgbClr val="F2B766"/>
                </a:solidFill>
                <a:latin typeface="Aptos"/>
              </a:rPr>
              <a:t>1,000 + 1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971800"/>
            <a:ext cx="2971800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F3F6FB"/>
                </a:solidFill>
                <a:latin typeface="Aptos"/>
              </a:rPr>
              <a:t>Virtuelle brukarar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3794760"/>
            <a:ext cx="297180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B4C1D3"/>
                </a:solidFill>
                <a:latin typeface="Aptos"/>
              </a:rPr>
              <a:t>Opp til 1,000 CRUD-brukarar + 1 for måling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2011680"/>
            <a:ext cx="3383280" cy="2423160"/>
          </a:xfrm>
          <a:prstGeom prst="roundRect">
            <a:avLst/>
          </a:prstGeom>
          <a:solidFill>
            <a:srgbClr val="1B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2168" y="2240280"/>
            <a:ext cx="2971800" cy="6400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3700" b="1">
                <a:solidFill>
                  <a:srgbClr val="5CD4B2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8" y="2971800"/>
            <a:ext cx="2971800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F3F6FB"/>
                </a:solidFill>
                <a:latin typeface="Aptos"/>
              </a:rPr>
              <a:t>Førespurnader per runde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3794760"/>
            <a:ext cx="297180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B4C1D3"/>
                </a:solidFill>
                <a:latin typeface="Aptos"/>
              </a:rPr>
              <a:t>Éin fullført CRUD-iterasjon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754880"/>
            <a:ext cx="10652760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100" b="1">
                <a:solidFill>
                  <a:srgbClr val="F3F6FB"/>
                </a:solidFill>
                <a:latin typeface="Aptos"/>
              </a:rPr>
              <a:t>Opprett  &gt;  list  &gt;  les  &gt;  oppdater  &gt;  les oppdatert  &gt;  slett  &gt;  les sletta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513832"/>
            <a:ext cx="1065276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B4C1D3"/>
                </a:solidFill>
                <a:latin typeface="Aptos"/>
              </a:rPr>
              <a:t>Siste førespurnad venta HTTP 404. Dette var ein bestått sjekk, ikkje ein HTTP-feil.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73152" cy="475488"/>
          </a:xfrm>
          <a:prstGeom prst="rect">
            <a:avLst/>
          </a:prstGeom>
          <a:solidFill>
            <a:srgbClr val="5CD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20624"/>
            <a:ext cx="1069848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F3F6FB"/>
                </a:solidFill>
                <a:latin typeface="Aptos"/>
              </a:rPr>
              <a:t>Rust hadde høgast gjennomstrøyming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15568"/>
            <a:ext cx="1069848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B4C1D3"/>
                </a:solidFill>
                <a:latin typeface="Aptos"/>
              </a:rPr>
              <a:t>Gjennomsnitt over heile testen, inkludert opp- og nedtrapping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6364224"/>
            <a:ext cx="10652760" cy="10972"/>
          </a:xfrm>
          <a:prstGeom prst="rect">
            <a:avLst/>
          </a:prstGeom>
          <a:solidFill>
            <a:srgbClr val="354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510528"/>
            <a:ext cx="987552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B4C1D3"/>
                </a:solidFill>
                <a:latin typeface="Aptos"/>
              </a:rPr>
              <a:t>Kjelde: README.md | Lokale k6-køyringar | MikAoJk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200" b="0">
                <a:solidFill>
                  <a:srgbClr val="B4C1D3"/>
                </a:solidFill>
                <a:latin typeface="Apto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1069848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B4C1D3"/>
                </a:solidFill>
                <a:latin typeface="Aptos"/>
              </a:rPr>
              <a:t>HTTP-førespurnader per sekund | høgare er betre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06040"/>
            <a:ext cx="100584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9F97FF"/>
                </a:solidFill>
                <a:latin typeface="Aptos"/>
              </a:rPr>
              <a:t>C#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20240" y="2624328"/>
            <a:ext cx="3396334" cy="384048"/>
          </a:xfrm>
          <a:prstGeom prst="rect">
            <a:avLst/>
          </a:prstGeom>
          <a:solidFill>
            <a:srgbClr val="9F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2587752"/>
            <a:ext cx="224028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300" b="1">
                <a:solidFill>
                  <a:srgbClr val="F3F6FB"/>
                </a:solidFill>
                <a:latin typeface="Aptos"/>
              </a:rPr>
              <a:t>454.95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29000"/>
            <a:ext cx="100584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F2B766"/>
                </a:solidFill>
                <a:latin typeface="Aptos"/>
              </a:rPr>
              <a:t>Kotlin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20240" y="3447288"/>
            <a:ext cx="2997837" cy="384048"/>
          </a:xfrm>
          <a:prstGeom prst="rect">
            <a:avLst/>
          </a:prstGeom>
          <a:solidFill>
            <a:srgbClr val="F2B7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3410712"/>
            <a:ext cx="224028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300" b="1">
                <a:solidFill>
                  <a:srgbClr val="F3F6FB"/>
                </a:solidFill>
                <a:latin typeface="Aptos"/>
              </a:rPr>
              <a:t>401.57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51960"/>
            <a:ext cx="100584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5CD4B2"/>
                </a:solidFill>
                <a:latin typeface="Aptos"/>
              </a:rPr>
              <a:t>Rust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20240" y="4270248"/>
            <a:ext cx="6949440" cy="384048"/>
          </a:xfrm>
          <a:prstGeom prst="rect">
            <a:avLst/>
          </a:prstGeom>
          <a:solidFill>
            <a:srgbClr val="5CD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4233672"/>
            <a:ext cx="224028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300" b="1">
                <a:solidFill>
                  <a:srgbClr val="F3F6FB"/>
                </a:solidFill>
                <a:latin typeface="Aptos"/>
              </a:rPr>
              <a:t>930.90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166360"/>
            <a:ext cx="1065276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500" b="1">
                <a:solidFill>
                  <a:srgbClr val="5CD4B2"/>
                </a:solidFill>
                <a:latin typeface="Aptos"/>
              </a:rPr>
              <a:t>Rust: +104.6 % mot C#  |  +131.8 % mot Kotlin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715000"/>
            <a:ext cx="1065276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B4C1D3"/>
                </a:solidFill>
                <a:latin typeface="Aptos"/>
              </a:rPr>
              <a:t>C# handterte 13.3 % fleire førespurnader/s enn Kotlin.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73152" cy="475488"/>
          </a:xfrm>
          <a:prstGeom prst="rect">
            <a:avLst/>
          </a:prstGeom>
          <a:solidFill>
            <a:srgbClr val="5CD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20624"/>
            <a:ext cx="1069848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F3F6FB"/>
                </a:solidFill>
                <a:latin typeface="Aptos"/>
              </a:rPr>
              <a:t>Lågast responstid med 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15568"/>
            <a:ext cx="1069848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B4C1D3"/>
                </a:solidFill>
                <a:latin typeface="Aptos"/>
              </a:rPr>
              <a:t>k6 http_req_duration | lågare er betre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6364224"/>
            <a:ext cx="10652760" cy="10972"/>
          </a:xfrm>
          <a:prstGeom prst="rect">
            <a:avLst/>
          </a:prstGeom>
          <a:solidFill>
            <a:srgbClr val="354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510528"/>
            <a:ext cx="987552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B4C1D3"/>
                </a:solidFill>
                <a:latin typeface="Aptos"/>
              </a:rPr>
              <a:t>Kjelde: README.md | Lokale k6-køyringar | MikAoJk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200" b="0">
                <a:solidFill>
                  <a:srgbClr val="B4C1D3"/>
                </a:solidFill>
                <a:latin typeface="Aptos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4549140" cy="516635"/>
          </a:xfrm>
          <a:prstGeom prst="rect">
            <a:avLst/>
          </a:prstGeom>
          <a:solidFill>
            <a:srgbClr val="1B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984248"/>
            <a:ext cx="4389120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F3F6FB"/>
                </a:solidFill>
                <a:latin typeface="Aptos"/>
              </a:rPr>
              <a:t>Måltal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49240" y="1920240"/>
            <a:ext cx="1988820" cy="516635"/>
          </a:xfrm>
          <a:prstGeom prst="rect">
            <a:avLst/>
          </a:prstGeom>
          <a:solidFill>
            <a:srgbClr val="1B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58968" y="1984248"/>
            <a:ext cx="1828800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9F97FF"/>
                </a:solidFill>
                <a:latin typeface="Aptos"/>
              </a:rPr>
              <a:t>C#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60920" y="1920240"/>
            <a:ext cx="1988820" cy="516635"/>
          </a:xfrm>
          <a:prstGeom prst="rect">
            <a:avLst/>
          </a:prstGeom>
          <a:solidFill>
            <a:srgbClr val="1B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70648" y="1984248"/>
            <a:ext cx="1828800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F2B766"/>
                </a:solidFill>
                <a:latin typeface="Aptos"/>
              </a:rPr>
              <a:t>Kotlin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72600" y="1920240"/>
            <a:ext cx="2034540" cy="516635"/>
          </a:xfrm>
          <a:prstGeom prst="rect">
            <a:avLst/>
          </a:prstGeom>
          <a:solidFill>
            <a:srgbClr val="1B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82328" y="1984248"/>
            <a:ext cx="1874519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5CD4B2"/>
                </a:solidFill>
                <a:latin typeface="Aptos"/>
              </a:rPr>
              <a:t>Rust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459736"/>
            <a:ext cx="4549140" cy="516635"/>
          </a:xfrm>
          <a:prstGeom prst="rect">
            <a:avLst/>
          </a:prstGeom>
          <a:solidFill>
            <a:srgbClr val="10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2523744"/>
            <a:ext cx="4389120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3F6FB"/>
                </a:solidFill>
                <a:latin typeface="Aptos"/>
              </a:rPr>
              <a:t>Gjennomsnitt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49240" y="2459736"/>
            <a:ext cx="1988820" cy="516635"/>
          </a:xfrm>
          <a:prstGeom prst="rect">
            <a:avLst/>
          </a:prstGeom>
          <a:solidFill>
            <a:srgbClr val="10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58968" y="2523744"/>
            <a:ext cx="1828800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3F6FB"/>
                </a:solidFill>
                <a:latin typeface="Aptos"/>
              </a:rPr>
              <a:t>978.90 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60920" y="2459736"/>
            <a:ext cx="1988820" cy="516635"/>
          </a:xfrm>
          <a:prstGeom prst="rect">
            <a:avLst/>
          </a:prstGeom>
          <a:solidFill>
            <a:srgbClr val="10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70648" y="2523744"/>
            <a:ext cx="1828800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3F6FB"/>
                </a:solidFill>
                <a:latin typeface="Aptos"/>
              </a:rPr>
              <a:t>1.10 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72600" y="2459736"/>
            <a:ext cx="2034540" cy="516635"/>
          </a:xfrm>
          <a:prstGeom prst="rect">
            <a:avLst/>
          </a:prstGeom>
          <a:solidFill>
            <a:srgbClr val="10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82328" y="2523744"/>
            <a:ext cx="1874519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3F6FB"/>
                </a:solidFill>
                <a:latin typeface="Aptos"/>
              </a:rPr>
              <a:t>474.70 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2999232"/>
            <a:ext cx="4549140" cy="516635"/>
          </a:xfrm>
          <a:prstGeom prst="rect">
            <a:avLst/>
          </a:prstGeom>
          <a:solidFill>
            <a:srgbClr val="1B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3063240"/>
            <a:ext cx="4389120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3F6FB"/>
                </a:solidFill>
                <a:latin typeface="Aptos"/>
              </a:rPr>
              <a:t>Median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49240" y="2999232"/>
            <a:ext cx="1988820" cy="516635"/>
          </a:xfrm>
          <a:prstGeom prst="rect">
            <a:avLst/>
          </a:prstGeom>
          <a:solidFill>
            <a:srgbClr val="1B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58968" y="3063240"/>
            <a:ext cx="1828800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3F6FB"/>
                </a:solidFill>
                <a:latin typeface="Aptos"/>
              </a:rPr>
              <a:t>407.71 ms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60920" y="2999232"/>
            <a:ext cx="1988820" cy="516635"/>
          </a:xfrm>
          <a:prstGeom prst="rect">
            <a:avLst/>
          </a:prstGeom>
          <a:solidFill>
            <a:srgbClr val="1B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70648" y="3063240"/>
            <a:ext cx="1828800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3F6FB"/>
                </a:solidFill>
                <a:latin typeface="Aptos"/>
              </a:rPr>
              <a:t>995.72 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72600" y="2999232"/>
            <a:ext cx="2034540" cy="516635"/>
          </a:xfrm>
          <a:prstGeom prst="rect">
            <a:avLst/>
          </a:prstGeom>
          <a:solidFill>
            <a:srgbClr val="1B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82328" y="3063240"/>
            <a:ext cx="1874519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3F6FB"/>
                </a:solidFill>
                <a:latin typeface="Aptos"/>
              </a:rPr>
              <a:t>102.33 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3538728"/>
            <a:ext cx="4549140" cy="516635"/>
          </a:xfrm>
          <a:prstGeom prst="rect">
            <a:avLst/>
          </a:prstGeom>
          <a:solidFill>
            <a:srgbClr val="10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3602736"/>
            <a:ext cx="4389120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3F6FB"/>
                </a:solidFill>
                <a:latin typeface="Aptos"/>
              </a:rPr>
              <a:t>p90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49240" y="3538728"/>
            <a:ext cx="1988820" cy="516635"/>
          </a:xfrm>
          <a:prstGeom prst="rect">
            <a:avLst/>
          </a:prstGeom>
          <a:solidFill>
            <a:srgbClr val="10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58968" y="3602736"/>
            <a:ext cx="1828800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3F6FB"/>
                </a:solidFill>
                <a:latin typeface="Aptos"/>
              </a:rPr>
              <a:t>2.38 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60920" y="3538728"/>
            <a:ext cx="1988820" cy="516635"/>
          </a:xfrm>
          <a:prstGeom prst="rect">
            <a:avLst/>
          </a:prstGeom>
          <a:solidFill>
            <a:srgbClr val="10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70648" y="3602736"/>
            <a:ext cx="1828800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3F6FB"/>
                </a:solidFill>
                <a:latin typeface="Aptos"/>
              </a:rPr>
              <a:t>2.20 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72600" y="3538728"/>
            <a:ext cx="2034540" cy="516635"/>
          </a:xfrm>
          <a:prstGeom prst="rect">
            <a:avLst/>
          </a:prstGeom>
          <a:solidFill>
            <a:srgbClr val="10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82328" y="3602736"/>
            <a:ext cx="1874519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3F6FB"/>
                </a:solidFill>
                <a:latin typeface="Aptos"/>
              </a:rPr>
              <a:t>1.39 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4078224"/>
            <a:ext cx="4549140" cy="516635"/>
          </a:xfrm>
          <a:prstGeom prst="rect">
            <a:avLst/>
          </a:prstGeom>
          <a:solidFill>
            <a:srgbClr val="1B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6968" y="4142232"/>
            <a:ext cx="4389120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3F6FB"/>
                </a:solidFill>
                <a:latin typeface="Aptos"/>
              </a:rPr>
              <a:t>p95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49240" y="4078224"/>
            <a:ext cx="1988820" cy="516635"/>
          </a:xfrm>
          <a:prstGeom prst="rect">
            <a:avLst/>
          </a:prstGeom>
          <a:solidFill>
            <a:srgbClr val="1B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58968" y="4142232"/>
            <a:ext cx="1828800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3F6FB"/>
                </a:solidFill>
                <a:latin typeface="Aptos"/>
              </a:rPr>
              <a:t>2.79 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60920" y="4078224"/>
            <a:ext cx="1988820" cy="516635"/>
          </a:xfrm>
          <a:prstGeom prst="rect">
            <a:avLst/>
          </a:prstGeom>
          <a:solidFill>
            <a:srgbClr val="1B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70648" y="4142232"/>
            <a:ext cx="1828800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3F6FB"/>
                </a:solidFill>
                <a:latin typeface="Aptos"/>
              </a:rPr>
              <a:t>2.49 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372600" y="4078224"/>
            <a:ext cx="2034540" cy="516635"/>
          </a:xfrm>
          <a:prstGeom prst="rect">
            <a:avLst/>
          </a:prstGeom>
          <a:solidFill>
            <a:srgbClr val="1B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82328" y="4142232"/>
            <a:ext cx="1874519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3F6FB"/>
                </a:solidFill>
                <a:latin typeface="Aptos"/>
              </a:rPr>
              <a:t>1.40 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" y="4617720"/>
            <a:ext cx="4549140" cy="516635"/>
          </a:xfrm>
          <a:prstGeom prst="rect">
            <a:avLst/>
          </a:prstGeom>
          <a:solidFill>
            <a:srgbClr val="10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6968" y="4681728"/>
            <a:ext cx="4389120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3F6FB"/>
                </a:solidFill>
                <a:latin typeface="Aptos"/>
              </a:rPr>
              <a:t>Maksimum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49240" y="4617720"/>
            <a:ext cx="1988820" cy="516635"/>
          </a:xfrm>
          <a:prstGeom prst="rect">
            <a:avLst/>
          </a:prstGeom>
          <a:solidFill>
            <a:srgbClr val="10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58968" y="4681728"/>
            <a:ext cx="1828800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3F6FB"/>
                </a:solidFill>
                <a:latin typeface="Aptos"/>
              </a:rPr>
              <a:t>5.50 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60920" y="4617720"/>
            <a:ext cx="1988820" cy="516635"/>
          </a:xfrm>
          <a:prstGeom prst="rect">
            <a:avLst/>
          </a:prstGeom>
          <a:solidFill>
            <a:srgbClr val="10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70648" y="4681728"/>
            <a:ext cx="1828800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3F6FB"/>
                </a:solidFill>
                <a:latin typeface="Aptos"/>
              </a:rPr>
              <a:t>5.01 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72600" y="4617720"/>
            <a:ext cx="2034540" cy="516635"/>
          </a:xfrm>
          <a:prstGeom prst="rect">
            <a:avLst/>
          </a:prstGeom>
          <a:solidFill>
            <a:srgbClr val="10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82328" y="4681728"/>
            <a:ext cx="1874519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3F6FB"/>
                </a:solidFill>
                <a:latin typeface="Aptos"/>
              </a:rPr>
              <a:t>1.97 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7240" y="5413248"/>
            <a:ext cx="1065276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5CD4B2"/>
                </a:solidFill>
                <a:latin typeface="Aptos"/>
              </a:rPr>
              <a:t>Kotlin hadde lågare p90, p95 og maksimum enn C#, men Rust låg lågast på alle fem måltala.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73152" cy="475488"/>
          </a:xfrm>
          <a:prstGeom prst="rect">
            <a:avLst/>
          </a:prstGeom>
          <a:solidFill>
            <a:srgbClr val="5CD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20624"/>
            <a:ext cx="1069848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F3F6FB"/>
                </a:solidFill>
                <a:latin typeface="Aptos"/>
              </a:rPr>
              <a:t>Iterasjonar: same hovudmønster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15568"/>
            <a:ext cx="1069848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B4C1D3"/>
                </a:solidFill>
                <a:latin typeface="Aptos"/>
              </a:rPr>
              <a:t>Aggregerte k6-tal inkluderer overvaking og er ikkje berre CRUD-rundar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6364224"/>
            <a:ext cx="10652760" cy="10972"/>
          </a:xfrm>
          <a:prstGeom prst="rect">
            <a:avLst/>
          </a:prstGeom>
          <a:solidFill>
            <a:srgbClr val="354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510528"/>
            <a:ext cx="987552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B4C1D3"/>
                </a:solidFill>
                <a:latin typeface="Aptos"/>
              </a:rPr>
              <a:t>Kjelde: README.md | Lokale k6-køyringar | MikAoJk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200" b="0">
                <a:solidFill>
                  <a:srgbClr val="B4C1D3"/>
                </a:solidFill>
                <a:latin typeface="Aptos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4549140" cy="580644"/>
          </a:xfrm>
          <a:prstGeom prst="rect">
            <a:avLst/>
          </a:prstGeom>
          <a:solidFill>
            <a:srgbClr val="1B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984248"/>
            <a:ext cx="438912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F3F6FB"/>
                </a:solidFill>
                <a:latin typeface="Aptos"/>
              </a:rPr>
              <a:t>Måltal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49240" y="1920240"/>
            <a:ext cx="1988820" cy="580644"/>
          </a:xfrm>
          <a:prstGeom prst="rect">
            <a:avLst/>
          </a:prstGeom>
          <a:solidFill>
            <a:srgbClr val="1B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58968" y="1984248"/>
            <a:ext cx="182880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9F97FF"/>
                </a:solidFill>
                <a:latin typeface="Aptos"/>
              </a:rPr>
              <a:t>C#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60920" y="1920240"/>
            <a:ext cx="1988820" cy="580644"/>
          </a:xfrm>
          <a:prstGeom prst="rect">
            <a:avLst/>
          </a:prstGeom>
          <a:solidFill>
            <a:srgbClr val="1B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70648" y="1984248"/>
            <a:ext cx="182880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F2B766"/>
                </a:solidFill>
                <a:latin typeface="Aptos"/>
              </a:rPr>
              <a:t>Kotlin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72600" y="1920240"/>
            <a:ext cx="2034540" cy="580644"/>
          </a:xfrm>
          <a:prstGeom prst="rect">
            <a:avLst/>
          </a:prstGeom>
          <a:solidFill>
            <a:srgbClr val="1B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82328" y="1984248"/>
            <a:ext cx="1874519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5CD4B2"/>
                </a:solidFill>
                <a:latin typeface="Aptos"/>
              </a:rPr>
              <a:t>Rust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523744"/>
            <a:ext cx="4549140" cy="580644"/>
          </a:xfrm>
          <a:prstGeom prst="rect">
            <a:avLst/>
          </a:prstGeom>
          <a:solidFill>
            <a:srgbClr val="10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2587752"/>
            <a:ext cx="438912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3F6FB"/>
                </a:solidFill>
                <a:latin typeface="Aptos"/>
              </a:rPr>
              <a:t>Fullførte iterasjonar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49240" y="2523744"/>
            <a:ext cx="1988820" cy="580644"/>
          </a:xfrm>
          <a:prstGeom prst="rect">
            <a:avLst/>
          </a:prstGeom>
          <a:solidFill>
            <a:srgbClr val="10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58968" y="2587752"/>
            <a:ext cx="182880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3F6FB"/>
                </a:solidFill>
                <a:latin typeface="Aptos"/>
              </a:rPr>
              <a:t>27,573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60920" y="2523744"/>
            <a:ext cx="1988820" cy="580644"/>
          </a:xfrm>
          <a:prstGeom prst="rect">
            <a:avLst/>
          </a:prstGeom>
          <a:solidFill>
            <a:srgbClr val="10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70648" y="2587752"/>
            <a:ext cx="182880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3F6FB"/>
                </a:solidFill>
                <a:latin typeface="Aptos"/>
              </a:rPr>
              <a:t>24,346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72600" y="2523744"/>
            <a:ext cx="2034540" cy="580644"/>
          </a:xfrm>
          <a:prstGeom prst="rect">
            <a:avLst/>
          </a:prstGeom>
          <a:solidFill>
            <a:srgbClr val="10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82328" y="2587752"/>
            <a:ext cx="1874519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3F6FB"/>
                </a:solidFill>
                <a:latin typeface="Aptos"/>
              </a:rPr>
              <a:t>56,203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127248"/>
            <a:ext cx="4549140" cy="580644"/>
          </a:xfrm>
          <a:prstGeom prst="rect">
            <a:avLst/>
          </a:prstGeom>
          <a:solidFill>
            <a:srgbClr val="1B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3191256"/>
            <a:ext cx="438912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3F6FB"/>
                </a:solidFill>
                <a:latin typeface="Aptos"/>
              </a:rPr>
              <a:t>Iterasjonar per sekund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49240" y="3127248"/>
            <a:ext cx="1988820" cy="580644"/>
          </a:xfrm>
          <a:prstGeom prst="rect">
            <a:avLst/>
          </a:prstGeom>
          <a:solidFill>
            <a:srgbClr val="1B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58968" y="3191256"/>
            <a:ext cx="182880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3F6FB"/>
                </a:solidFill>
                <a:latin typeface="Aptos"/>
              </a:rPr>
              <a:t>65.54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60920" y="3127248"/>
            <a:ext cx="1988820" cy="580644"/>
          </a:xfrm>
          <a:prstGeom prst="rect">
            <a:avLst/>
          </a:prstGeom>
          <a:solidFill>
            <a:srgbClr val="1B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70648" y="3191256"/>
            <a:ext cx="182880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3F6FB"/>
                </a:solidFill>
                <a:latin typeface="Aptos"/>
              </a:rPr>
              <a:t>57.90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72600" y="3127248"/>
            <a:ext cx="2034540" cy="580644"/>
          </a:xfrm>
          <a:prstGeom prst="rect">
            <a:avLst/>
          </a:prstGeom>
          <a:solidFill>
            <a:srgbClr val="1B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82328" y="3191256"/>
            <a:ext cx="1874519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3F6FB"/>
                </a:solidFill>
                <a:latin typeface="Aptos"/>
              </a:rPr>
              <a:t>133.64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3730752"/>
            <a:ext cx="4549140" cy="580644"/>
          </a:xfrm>
          <a:prstGeom prst="rect">
            <a:avLst/>
          </a:prstGeom>
          <a:solidFill>
            <a:srgbClr val="10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3794760"/>
            <a:ext cx="438912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3F6FB"/>
                </a:solidFill>
                <a:latin typeface="Aptos"/>
              </a:rPr>
              <a:t>Gjennomsnittleg varigheit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49240" y="3730752"/>
            <a:ext cx="1988820" cy="580644"/>
          </a:xfrm>
          <a:prstGeom prst="rect">
            <a:avLst/>
          </a:prstGeom>
          <a:solidFill>
            <a:srgbClr val="10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58968" y="3794760"/>
            <a:ext cx="182880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3F6FB"/>
                </a:solidFill>
                <a:latin typeface="Aptos"/>
              </a:rPr>
              <a:t>6.80 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60920" y="3730752"/>
            <a:ext cx="1988820" cy="580644"/>
          </a:xfrm>
          <a:prstGeom prst="rect">
            <a:avLst/>
          </a:prstGeom>
          <a:solidFill>
            <a:srgbClr val="10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70648" y="3794760"/>
            <a:ext cx="182880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3F6FB"/>
                </a:solidFill>
                <a:latin typeface="Aptos"/>
              </a:rPr>
              <a:t>7.70 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72600" y="3730752"/>
            <a:ext cx="2034540" cy="580644"/>
          </a:xfrm>
          <a:prstGeom prst="rect">
            <a:avLst/>
          </a:prstGeom>
          <a:solidFill>
            <a:srgbClr val="10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82328" y="3794760"/>
            <a:ext cx="1874519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3F6FB"/>
                </a:solidFill>
                <a:latin typeface="Aptos"/>
              </a:rPr>
              <a:t>3.31 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4334256"/>
            <a:ext cx="4549140" cy="580644"/>
          </a:xfrm>
          <a:prstGeom prst="rect">
            <a:avLst/>
          </a:prstGeom>
          <a:solidFill>
            <a:srgbClr val="1B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6968" y="4398264"/>
            <a:ext cx="438912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3F6FB"/>
                </a:solidFill>
                <a:latin typeface="Aptos"/>
              </a:rPr>
              <a:t>p95-varigheit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49240" y="4334256"/>
            <a:ext cx="1988820" cy="580644"/>
          </a:xfrm>
          <a:prstGeom prst="rect">
            <a:avLst/>
          </a:prstGeom>
          <a:solidFill>
            <a:srgbClr val="1B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58968" y="4398264"/>
            <a:ext cx="182880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3F6FB"/>
                </a:solidFill>
                <a:latin typeface="Aptos"/>
              </a:rPr>
              <a:t>15.50 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60920" y="4334256"/>
            <a:ext cx="1988820" cy="580644"/>
          </a:xfrm>
          <a:prstGeom prst="rect">
            <a:avLst/>
          </a:prstGeom>
          <a:solidFill>
            <a:srgbClr val="1B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70648" y="4398264"/>
            <a:ext cx="182880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3F6FB"/>
                </a:solidFill>
                <a:latin typeface="Aptos"/>
              </a:rPr>
              <a:t>16.09 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372600" y="4334256"/>
            <a:ext cx="2034540" cy="580644"/>
          </a:xfrm>
          <a:prstGeom prst="rect">
            <a:avLst/>
          </a:prstGeom>
          <a:solidFill>
            <a:srgbClr val="1B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82328" y="4398264"/>
            <a:ext cx="1874519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3F6FB"/>
                </a:solidFill>
                <a:latin typeface="Aptos"/>
              </a:rPr>
              <a:t>9.68 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303520"/>
            <a:ext cx="10652760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100" b="1">
                <a:solidFill>
                  <a:srgbClr val="5CD4B2"/>
                </a:solidFill>
                <a:latin typeface="Aptos"/>
              </a:rPr>
              <a:t>Rust hadde kortast gjennomsnittleg og p95 iterasjonsvarigheit.</a:t>
            </a:r>
          </a:p>
          <a:p>
            <a:pPr>
              <a:spcAft>
                <a:spcPts val="1000"/>
              </a:spcAft>
            </a:pPr>
            <a:r>
              <a:rPr sz="2100" b="1">
                <a:solidFill>
                  <a:srgbClr val="5CD4B2"/>
                </a:solidFill>
                <a:latin typeface="Aptos"/>
              </a:rPr>
              <a:t>C# hadde lågare gjennomsnitt og p95 enn Kotlin.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73152" cy="475488"/>
          </a:xfrm>
          <a:prstGeom prst="rect">
            <a:avLst/>
          </a:prstGeom>
          <a:solidFill>
            <a:srgbClr val="5CD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20624"/>
            <a:ext cx="1069848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F3F6FB"/>
                </a:solidFill>
                <a:latin typeface="Aptos"/>
              </a:rPr>
              <a:t>Stor skilnad i minnebruk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15568"/>
            <a:ext cx="1069848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B4C1D3"/>
                </a:solidFill>
                <a:latin typeface="Aptos"/>
              </a:rPr>
              <a:t>RSS er resident prosessminne | lågare er betre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6364224"/>
            <a:ext cx="10652760" cy="10972"/>
          </a:xfrm>
          <a:prstGeom prst="rect">
            <a:avLst/>
          </a:prstGeom>
          <a:solidFill>
            <a:srgbClr val="354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510528"/>
            <a:ext cx="987552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B4C1D3"/>
                </a:solidFill>
                <a:latin typeface="Aptos"/>
              </a:rPr>
              <a:t>Kjelde: README.md | Lokale k6-køyringar | MikAoJk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200" b="0">
                <a:solidFill>
                  <a:srgbClr val="B4C1D3"/>
                </a:solidFill>
                <a:latin typeface="Aptos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1069848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B4C1D3"/>
                </a:solidFill>
                <a:latin typeface="Aptos"/>
              </a:rPr>
              <a:t>Gjennomsnittleg RSS, MiB | felles skala frå null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06040"/>
            <a:ext cx="100584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9F97FF"/>
                </a:solidFill>
                <a:latin typeface="Aptos"/>
              </a:rPr>
              <a:t>C#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20240" y="2624328"/>
            <a:ext cx="5748217" cy="384048"/>
          </a:xfrm>
          <a:prstGeom prst="rect">
            <a:avLst/>
          </a:prstGeom>
          <a:solidFill>
            <a:srgbClr val="9F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2587752"/>
            <a:ext cx="224028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300" b="1">
                <a:solidFill>
                  <a:srgbClr val="F3F6FB"/>
                </a:solidFill>
                <a:latin typeface="Aptos"/>
              </a:rPr>
              <a:t>166.72 MiB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29000"/>
            <a:ext cx="100584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F2B766"/>
                </a:solidFill>
                <a:latin typeface="Aptos"/>
              </a:rPr>
              <a:t>Kotlin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20240" y="3447288"/>
            <a:ext cx="6949440" cy="384048"/>
          </a:xfrm>
          <a:prstGeom prst="rect">
            <a:avLst/>
          </a:prstGeom>
          <a:solidFill>
            <a:srgbClr val="F2B7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3410712"/>
            <a:ext cx="224028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300" b="1">
                <a:solidFill>
                  <a:srgbClr val="F3F6FB"/>
                </a:solidFill>
                <a:latin typeface="Aptos"/>
              </a:rPr>
              <a:t>201.56 MiB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51960"/>
            <a:ext cx="100584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5CD4B2"/>
                </a:solidFill>
                <a:latin typeface="Aptos"/>
              </a:rPr>
              <a:t>Rust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20240" y="4270248"/>
            <a:ext cx="807481" cy="384048"/>
          </a:xfrm>
          <a:prstGeom prst="rect">
            <a:avLst/>
          </a:prstGeom>
          <a:solidFill>
            <a:srgbClr val="5CD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4233672"/>
            <a:ext cx="224028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300" b="1">
                <a:solidFill>
                  <a:srgbClr val="F3F6FB"/>
                </a:solidFill>
                <a:latin typeface="Aptos"/>
              </a:rPr>
              <a:t>23.42 MiB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5120640"/>
            <a:ext cx="4549140" cy="434340"/>
          </a:xfrm>
          <a:prstGeom prst="rect">
            <a:avLst/>
          </a:prstGeom>
          <a:solidFill>
            <a:srgbClr val="1B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5184648"/>
            <a:ext cx="4389120" cy="4023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F3F6FB"/>
                </a:solidFill>
                <a:latin typeface="Aptos"/>
              </a:rPr>
              <a:t>Måltal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49240" y="5120640"/>
            <a:ext cx="1988820" cy="434340"/>
          </a:xfrm>
          <a:prstGeom prst="rect">
            <a:avLst/>
          </a:prstGeom>
          <a:solidFill>
            <a:srgbClr val="1B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58968" y="5184648"/>
            <a:ext cx="1828800" cy="4023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9F97FF"/>
                </a:solidFill>
                <a:latin typeface="Aptos"/>
              </a:rPr>
              <a:t>C#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60920" y="5120640"/>
            <a:ext cx="1988820" cy="434340"/>
          </a:xfrm>
          <a:prstGeom prst="rect">
            <a:avLst/>
          </a:prstGeom>
          <a:solidFill>
            <a:srgbClr val="1B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5184648"/>
            <a:ext cx="1828800" cy="4023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F2B766"/>
                </a:solidFill>
                <a:latin typeface="Aptos"/>
              </a:rPr>
              <a:t>Kotlin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72600" y="5120640"/>
            <a:ext cx="2034540" cy="434340"/>
          </a:xfrm>
          <a:prstGeom prst="rect">
            <a:avLst/>
          </a:prstGeom>
          <a:solidFill>
            <a:srgbClr val="1B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82328" y="5184648"/>
            <a:ext cx="1874519" cy="4023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5CD4B2"/>
                </a:solidFill>
                <a:latin typeface="Aptos"/>
              </a:rPr>
              <a:t>Rust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577840"/>
            <a:ext cx="4549140" cy="434340"/>
          </a:xfrm>
          <a:prstGeom prst="rect">
            <a:avLst/>
          </a:prstGeom>
          <a:solidFill>
            <a:srgbClr val="10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" y="5641848"/>
            <a:ext cx="4389120" cy="4023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3F6FB"/>
                </a:solidFill>
                <a:latin typeface="Aptos"/>
              </a:rPr>
              <a:t>Maksimal RSS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49240" y="5577840"/>
            <a:ext cx="1988820" cy="434340"/>
          </a:xfrm>
          <a:prstGeom prst="rect">
            <a:avLst/>
          </a:prstGeom>
          <a:solidFill>
            <a:srgbClr val="10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58968" y="5641848"/>
            <a:ext cx="1828800" cy="4023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3F6FB"/>
                </a:solidFill>
                <a:latin typeface="Aptos"/>
              </a:rPr>
              <a:t>355.40 MiB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60920" y="5577840"/>
            <a:ext cx="1988820" cy="434340"/>
          </a:xfrm>
          <a:prstGeom prst="rect">
            <a:avLst/>
          </a:prstGeom>
          <a:solidFill>
            <a:srgbClr val="10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70648" y="5641848"/>
            <a:ext cx="1828800" cy="4023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3F6FB"/>
                </a:solidFill>
                <a:latin typeface="Aptos"/>
              </a:rPr>
              <a:t>292.98 MiB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72600" y="5577840"/>
            <a:ext cx="2034540" cy="434340"/>
          </a:xfrm>
          <a:prstGeom prst="rect">
            <a:avLst/>
          </a:prstGeom>
          <a:solidFill>
            <a:srgbClr val="10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82328" y="5641848"/>
            <a:ext cx="1874519" cy="4023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3F6FB"/>
                </a:solidFill>
                <a:latin typeface="Aptos"/>
              </a:rPr>
              <a:t>42.24 MiB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73152" cy="475488"/>
          </a:xfrm>
          <a:prstGeom prst="rect">
            <a:avLst/>
          </a:prstGeom>
          <a:solidFill>
            <a:srgbClr val="5CD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20624"/>
            <a:ext cx="1069848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F3F6FB"/>
                </a:solidFill>
                <a:latin typeface="Aptos"/>
              </a:rPr>
              <a:t>Liknande CPU-bruk. Ingen registrerte HTTP-feil.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15568"/>
            <a:ext cx="1069848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B4C1D3"/>
                </a:solidFill>
                <a:latin typeface="Aptos"/>
              </a:rPr>
              <a:t>Ressursbruk og sjekkar må lesast saman med gjennomstrøyminga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6364224"/>
            <a:ext cx="10652760" cy="10972"/>
          </a:xfrm>
          <a:prstGeom prst="rect">
            <a:avLst/>
          </a:prstGeom>
          <a:solidFill>
            <a:srgbClr val="354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510528"/>
            <a:ext cx="987552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B4C1D3"/>
                </a:solidFill>
                <a:latin typeface="Aptos"/>
              </a:rPr>
              <a:t>Kjelde: README.md | Lokale k6-køyringar | MikAoJk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200" b="0">
                <a:solidFill>
                  <a:srgbClr val="B4C1D3"/>
                </a:solidFill>
                <a:latin typeface="Aptos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4549140" cy="644652"/>
          </a:xfrm>
          <a:prstGeom prst="rect">
            <a:avLst/>
          </a:prstGeom>
          <a:solidFill>
            <a:srgbClr val="1B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984248"/>
            <a:ext cx="4389120" cy="61264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F3F6FB"/>
                </a:solidFill>
                <a:latin typeface="Aptos"/>
              </a:rPr>
              <a:t>Måltal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49240" y="1920240"/>
            <a:ext cx="1988820" cy="644652"/>
          </a:xfrm>
          <a:prstGeom prst="rect">
            <a:avLst/>
          </a:prstGeom>
          <a:solidFill>
            <a:srgbClr val="1B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58968" y="1984248"/>
            <a:ext cx="1828800" cy="61264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9F97FF"/>
                </a:solidFill>
                <a:latin typeface="Aptos"/>
              </a:rPr>
              <a:t>C#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60920" y="1920240"/>
            <a:ext cx="1988820" cy="644652"/>
          </a:xfrm>
          <a:prstGeom prst="rect">
            <a:avLst/>
          </a:prstGeom>
          <a:solidFill>
            <a:srgbClr val="1B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70648" y="1984248"/>
            <a:ext cx="1828800" cy="61264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F2B766"/>
                </a:solidFill>
                <a:latin typeface="Aptos"/>
              </a:rPr>
              <a:t>Kotlin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72600" y="1920240"/>
            <a:ext cx="2034540" cy="644652"/>
          </a:xfrm>
          <a:prstGeom prst="rect">
            <a:avLst/>
          </a:prstGeom>
          <a:solidFill>
            <a:srgbClr val="1B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82328" y="1984248"/>
            <a:ext cx="1874519" cy="61264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5CD4B2"/>
                </a:solidFill>
                <a:latin typeface="Aptos"/>
              </a:rPr>
              <a:t>Rust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587752"/>
            <a:ext cx="4549140" cy="644652"/>
          </a:xfrm>
          <a:prstGeom prst="rect">
            <a:avLst/>
          </a:prstGeom>
          <a:solidFill>
            <a:srgbClr val="10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2651760"/>
            <a:ext cx="4389120" cy="61264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3F6FB"/>
                </a:solidFill>
                <a:latin typeface="Aptos"/>
              </a:rPr>
              <a:t>Gjennomsnittleg prosess-CPU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49240" y="2587752"/>
            <a:ext cx="1988820" cy="644652"/>
          </a:xfrm>
          <a:prstGeom prst="rect">
            <a:avLst/>
          </a:prstGeom>
          <a:solidFill>
            <a:srgbClr val="10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58968" y="2651760"/>
            <a:ext cx="1828800" cy="61264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3F6FB"/>
                </a:solidFill>
                <a:latin typeface="Aptos"/>
              </a:rPr>
              <a:t>19.38%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60920" y="2587752"/>
            <a:ext cx="1988820" cy="644652"/>
          </a:xfrm>
          <a:prstGeom prst="rect">
            <a:avLst/>
          </a:prstGeom>
          <a:solidFill>
            <a:srgbClr val="10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70648" y="2651760"/>
            <a:ext cx="1828800" cy="61264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3F6FB"/>
                </a:solidFill>
                <a:latin typeface="Aptos"/>
              </a:rPr>
              <a:t>19.83%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72600" y="2587752"/>
            <a:ext cx="2034540" cy="644652"/>
          </a:xfrm>
          <a:prstGeom prst="rect">
            <a:avLst/>
          </a:prstGeom>
          <a:solidFill>
            <a:srgbClr val="10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82328" y="2651760"/>
            <a:ext cx="1874519" cy="61264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3F6FB"/>
                </a:solidFill>
                <a:latin typeface="Aptos"/>
              </a:rPr>
              <a:t>19.49%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255264"/>
            <a:ext cx="4549140" cy="644652"/>
          </a:xfrm>
          <a:prstGeom prst="rect">
            <a:avLst/>
          </a:prstGeom>
          <a:solidFill>
            <a:srgbClr val="1B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3319272"/>
            <a:ext cx="4389120" cy="61264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3F6FB"/>
                </a:solidFill>
                <a:latin typeface="Aptos"/>
              </a:rPr>
              <a:t>Beståtte sjekkar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49240" y="3255264"/>
            <a:ext cx="1988820" cy="644652"/>
          </a:xfrm>
          <a:prstGeom prst="rect">
            <a:avLst/>
          </a:prstGeom>
          <a:solidFill>
            <a:srgbClr val="1B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58968" y="3319272"/>
            <a:ext cx="1828800" cy="61264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3F6FB"/>
                </a:solidFill>
                <a:latin typeface="Aptos"/>
              </a:rPr>
              <a:t>383,073 (100%)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60920" y="3255264"/>
            <a:ext cx="1988820" cy="644652"/>
          </a:xfrm>
          <a:prstGeom prst="rect">
            <a:avLst/>
          </a:prstGeom>
          <a:solidFill>
            <a:srgbClr val="1B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70648" y="3319272"/>
            <a:ext cx="1828800" cy="61264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3F6FB"/>
                </a:solidFill>
                <a:latin typeface="Aptos"/>
              </a:rPr>
              <a:t>337,950 (100%)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72600" y="3255264"/>
            <a:ext cx="2034540" cy="644652"/>
          </a:xfrm>
          <a:prstGeom prst="rect">
            <a:avLst/>
          </a:prstGeom>
          <a:solidFill>
            <a:srgbClr val="1B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82328" y="3319272"/>
            <a:ext cx="1874519" cy="61264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3F6FB"/>
                </a:solidFill>
                <a:latin typeface="Aptos"/>
              </a:rPr>
              <a:t>783,332 (100%)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3922776"/>
            <a:ext cx="4549140" cy="644652"/>
          </a:xfrm>
          <a:prstGeom prst="rect">
            <a:avLst/>
          </a:prstGeom>
          <a:solidFill>
            <a:srgbClr val="10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3986784"/>
            <a:ext cx="4389120" cy="61264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3F6FB"/>
                </a:solidFill>
                <a:latin typeface="Aptos"/>
              </a:rPr>
              <a:t>HTTP-førespurnader med feil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49240" y="3922776"/>
            <a:ext cx="1988820" cy="644652"/>
          </a:xfrm>
          <a:prstGeom prst="rect">
            <a:avLst/>
          </a:prstGeom>
          <a:solidFill>
            <a:srgbClr val="10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58968" y="3986784"/>
            <a:ext cx="1828800" cy="61264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3F6FB"/>
                </a:solidFill>
                <a:latin typeface="Aptos"/>
              </a:rPr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60920" y="3922776"/>
            <a:ext cx="1988820" cy="644652"/>
          </a:xfrm>
          <a:prstGeom prst="rect">
            <a:avLst/>
          </a:prstGeom>
          <a:solidFill>
            <a:srgbClr val="10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70648" y="3986784"/>
            <a:ext cx="1828800" cy="61264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3F6FB"/>
                </a:solidFill>
                <a:latin typeface="Aptos"/>
              </a:rPr>
              <a:t>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72600" y="3922776"/>
            <a:ext cx="2034540" cy="644652"/>
          </a:xfrm>
          <a:prstGeom prst="rect">
            <a:avLst/>
          </a:prstGeom>
          <a:solidFill>
            <a:srgbClr val="10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82328" y="3986784"/>
            <a:ext cx="1874519" cy="61264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3F6FB"/>
                </a:solidFill>
                <a:latin typeface="Aptos"/>
              </a:rP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029200"/>
            <a:ext cx="10652760" cy="6400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400" b="1">
                <a:solidFill>
                  <a:srgbClr val="5CD4B2"/>
                </a:solidFill>
                <a:latin typeface="Aptos"/>
              </a:rPr>
              <a:t>Alle tre bestod kvar sjekk. Rapportert CPU-bruk låg mellom 19.38 % og 19.83 %.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5806440"/>
            <a:ext cx="1065276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B4C1D3"/>
                </a:solidFill>
                <a:latin typeface="Aptos"/>
              </a:rPr>
              <a:t>CPU og RSS er sampla prosessmålingar; dei er ikkje målingar av heile maskina.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73152" cy="475488"/>
          </a:xfrm>
          <a:prstGeom prst="rect">
            <a:avLst/>
          </a:prstGeom>
          <a:solidFill>
            <a:srgbClr val="5CD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20624"/>
            <a:ext cx="1069848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F3F6FB"/>
                </a:solidFill>
                <a:latin typeface="Aptos"/>
              </a:rPr>
              <a:t>Kva kan vi konkludere med?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15568"/>
            <a:ext cx="1069848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B4C1D3"/>
                </a:solidFill>
                <a:latin typeface="Aptos"/>
              </a:rPr>
              <a:t>Resultata gjeld desse applikasjonane i dei registrerte lokale køyringane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6364224"/>
            <a:ext cx="10652760" cy="10972"/>
          </a:xfrm>
          <a:prstGeom prst="rect">
            <a:avLst/>
          </a:prstGeom>
          <a:solidFill>
            <a:srgbClr val="354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510528"/>
            <a:ext cx="987552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B4C1D3"/>
                </a:solidFill>
                <a:latin typeface="Aptos"/>
              </a:rPr>
              <a:t>Kjelde: README.md | Lokale k6-køyringar | MikAoJk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200" b="0">
                <a:solidFill>
                  <a:srgbClr val="B4C1D3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20240"/>
            <a:ext cx="10652760" cy="868680"/>
          </a:xfrm>
          <a:prstGeom prst="roundRect">
            <a:avLst/>
          </a:prstGeom>
          <a:solidFill>
            <a:srgbClr val="1B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130552"/>
            <a:ext cx="1234440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300" b="1">
                <a:solidFill>
                  <a:srgbClr val="5CD4B2"/>
                </a:solidFill>
                <a:latin typeface="Aptos"/>
              </a:rPr>
              <a:t>Rust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2130552"/>
            <a:ext cx="873252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F3F6FB"/>
                </a:solidFill>
                <a:latin typeface="Aptos"/>
              </a:rPr>
              <a:t>Høgast gjennomstrøyming, lågast responstid og klart minst RSS.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944368"/>
            <a:ext cx="10652760" cy="868680"/>
          </a:xfrm>
          <a:prstGeom prst="roundRect">
            <a:avLst/>
          </a:prstGeom>
          <a:solidFill>
            <a:srgbClr val="1B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3154680"/>
            <a:ext cx="1234440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300" b="1">
                <a:solidFill>
                  <a:srgbClr val="9F97FF"/>
                </a:solidFill>
                <a:latin typeface="Aptos"/>
              </a:rPr>
              <a:t>C#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3154680"/>
            <a:ext cx="873252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F3F6FB"/>
                </a:solidFill>
                <a:latin typeface="Aptos"/>
              </a:rPr>
              <a:t>Nummer to på gjennomstrøyming; lågare snitt og median responstid enn Kotlin.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968496"/>
            <a:ext cx="10652760" cy="868680"/>
          </a:xfrm>
          <a:prstGeom prst="roundRect">
            <a:avLst/>
          </a:prstGeom>
          <a:solidFill>
            <a:srgbClr val="1B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4178808"/>
            <a:ext cx="1234440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300" b="1">
                <a:solidFill>
                  <a:srgbClr val="F2B766"/>
                </a:solidFill>
                <a:latin typeface="Aptos"/>
              </a:rPr>
              <a:t>Kotlin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4178808"/>
            <a:ext cx="873252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F3F6FB"/>
                </a:solidFill>
                <a:latin typeface="Aptos"/>
              </a:rPr>
              <a:t>Lågare p90, p95 og maksimal responstid enn C#, men lågast gjennomstrøyming.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376672"/>
            <a:ext cx="1065276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B4C1D3"/>
                </a:solidFill>
                <a:latin typeface="Aptos"/>
              </a:rPr>
              <a:t>Ikkje ei generell språkrangering: README oppgir ikkje maskinvare, versjonar eller variasjon mellom gjentekne køyringar.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73152" cy="475488"/>
          </a:xfrm>
          <a:prstGeom prst="rect">
            <a:avLst/>
          </a:prstGeom>
          <a:solidFill>
            <a:srgbClr val="5CD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20624"/>
            <a:ext cx="1069848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F3F6FB"/>
                </a:solidFill>
                <a:latin typeface="Aptos"/>
              </a:rPr>
              <a:t>Kjelder og applikasjonar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15568"/>
            <a:ext cx="1069848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B4C1D3"/>
                </a:solidFill>
                <a:latin typeface="Aptos"/>
              </a:rPr>
              <a:t>Klikk på lenkjene for datagrunnlag og implementasjonar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6364224"/>
            <a:ext cx="10652760" cy="10972"/>
          </a:xfrm>
          <a:prstGeom prst="rect">
            <a:avLst/>
          </a:prstGeom>
          <a:solidFill>
            <a:srgbClr val="354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510528"/>
            <a:ext cx="987552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B4C1D3"/>
                </a:solidFill>
                <a:latin typeface="Aptos"/>
              </a:rPr>
              <a:t>Kjelde: README.md | Lokale k6-køyringar | MikAoJk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200" b="0">
                <a:solidFill>
                  <a:srgbClr val="B4C1D3"/>
                </a:solidFill>
                <a:latin typeface="Aptos"/>
              </a:rPr>
              <a:t>09</a:t>
            </a:r>
          </a:p>
        </p:txBody>
      </p:sp>
      <p:sp>
        <p:nvSpPr>
          <p:cNvPr id="8" name="TextBox 7">
            <a:hlinkClick r:id="rId2"/>
          </p:cNvPr>
          <p:cNvSpPr txBox="1"/>
          <p:nvPr/>
        </p:nvSpPr>
        <p:spPr>
          <a:xfrm>
            <a:off x="777240" y="1874519"/>
            <a:ext cx="1065276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100" b="1">
                <a:solidFill>
                  <a:srgbClr val="5CD4B2"/>
                </a:solidFill>
                <a:latin typeface="Aptos"/>
              </a:rPr>
              <a:t>README.md - metode, resultat og hovudfunn</a:t>
            </a:r>
          </a:p>
        </p:txBody>
      </p:sp>
      <p:sp>
        <p:nvSpPr>
          <p:cNvPr id="9" name="TextBox 8">
            <a:hlinkClick r:id="rId2"/>
          </p:cNvPr>
          <p:cNvSpPr txBox="1"/>
          <p:nvPr/>
        </p:nvSpPr>
        <p:spPr>
          <a:xfrm>
            <a:off x="777240" y="2240279"/>
            <a:ext cx="1065276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200" b="0">
                <a:solidFill>
                  <a:srgbClr val="B4C1D3"/>
                </a:solidFill>
                <a:latin typeface="Aptos"/>
              </a:rPr>
              <a:t>github.com/MikAoJk/rust-kotlin-csharp-crud-performance/blob/main/README.md</a:t>
            </a:r>
          </a:p>
        </p:txBody>
      </p:sp>
      <p:sp>
        <p:nvSpPr>
          <p:cNvPr id="10" name="TextBox 9">
            <a:hlinkClick r:id="rId3"/>
          </p:cNvPr>
          <p:cNvSpPr txBox="1"/>
          <p:nvPr/>
        </p:nvSpPr>
        <p:spPr>
          <a:xfrm>
            <a:off x="777240" y="2670048"/>
            <a:ext cx="1065276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100" b="1">
                <a:solidFill>
                  <a:srgbClr val="5CD4B2"/>
                </a:solidFill>
                <a:latin typeface="Aptos"/>
              </a:rPr>
              <a:t>RUNS.md - råresultat frå k6</a:t>
            </a:r>
          </a:p>
        </p:txBody>
      </p:sp>
      <p:sp>
        <p:nvSpPr>
          <p:cNvPr id="11" name="TextBox 10">
            <a:hlinkClick r:id="rId3"/>
          </p:cNvPr>
          <p:cNvSpPr txBox="1"/>
          <p:nvPr/>
        </p:nvSpPr>
        <p:spPr>
          <a:xfrm>
            <a:off x="777240" y="3035808"/>
            <a:ext cx="1065276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200" b="0">
                <a:solidFill>
                  <a:srgbClr val="B4C1D3"/>
                </a:solidFill>
                <a:latin typeface="Aptos"/>
              </a:rPr>
              <a:t>github.com/MikAoJk/rust-kotlin-csharp-crud-performance/blob/main/RUNS.md</a:t>
            </a:r>
          </a:p>
        </p:txBody>
      </p:sp>
      <p:sp>
        <p:nvSpPr>
          <p:cNvPr id="12" name="TextBox 11">
            <a:hlinkClick r:id="rId4"/>
          </p:cNvPr>
          <p:cNvSpPr txBox="1"/>
          <p:nvPr/>
        </p:nvSpPr>
        <p:spPr>
          <a:xfrm>
            <a:off x="777240" y="3465576"/>
            <a:ext cx="1065276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100" b="1">
                <a:solidFill>
                  <a:srgbClr val="5CD4B2"/>
                </a:solidFill>
                <a:latin typeface="Aptos"/>
              </a:rPr>
              <a:t>C# - csharp-crud-rest-api</a:t>
            </a:r>
          </a:p>
        </p:txBody>
      </p:sp>
      <p:sp>
        <p:nvSpPr>
          <p:cNvPr id="13" name="TextBox 12">
            <a:hlinkClick r:id="rId4"/>
          </p:cNvPr>
          <p:cNvSpPr txBox="1"/>
          <p:nvPr/>
        </p:nvSpPr>
        <p:spPr>
          <a:xfrm>
            <a:off x="777240" y="3831336"/>
            <a:ext cx="1065276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200" b="0">
                <a:solidFill>
                  <a:srgbClr val="B4C1D3"/>
                </a:solidFill>
                <a:latin typeface="Aptos"/>
              </a:rPr>
              <a:t>github.com/MikAoJk/csharp-crud-rest-api</a:t>
            </a:r>
          </a:p>
        </p:txBody>
      </p:sp>
      <p:sp>
        <p:nvSpPr>
          <p:cNvPr id="14" name="TextBox 13">
            <a:hlinkClick r:id="rId5"/>
          </p:cNvPr>
          <p:cNvSpPr txBox="1"/>
          <p:nvPr/>
        </p:nvSpPr>
        <p:spPr>
          <a:xfrm>
            <a:off x="777240" y="4261104"/>
            <a:ext cx="1065276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100" b="1">
                <a:solidFill>
                  <a:srgbClr val="5CD4B2"/>
                </a:solidFill>
                <a:latin typeface="Aptos"/>
              </a:rPr>
              <a:t>Kotlin - kotlin-ktor-crud-rest-api</a:t>
            </a:r>
          </a:p>
        </p:txBody>
      </p:sp>
      <p:sp>
        <p:nvSpPr>
          <p:cNvPr id="15" name="TextBox 14">
            <a:hlinkClick r:id="rId5"/>
          </p:cNvPr>
          <p:cNvSpPr txBox="1"/>
          <p:nvPr/>
        </p:nvSpPr>
        <p:spPr>
          <a:xfrm>
            <a:off x="777240" y="4626864"/>
            <a:ext cx="1065276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200" b="0">
                <a:solidFill>
                  <a:srgbClr val="B4C1D3"/>
                </a:solidFill>
                <a:latin typeface="Aptos"/>
              </a:rPr>
              <a:t>github.com/MikAoJk/kotlin-ktor-crud-rest-api</a:t>
            </a:r>
          </a:p>
        </p:txBody>
      </p:sp>
      <p:sp>
        <p:nvSpPr>
          <p:cNvPr id="16" name="TextBox 15">
            <a:hlinkClick r:id="rId6"/>
          </p:cNvPr>
          <p:cNvSpPr txBox="1"/>
          <p:nvPr/>
        </p:nvSpPr>
        <p:spPr>
          <a:xfrm>
            <a:off x="777240" y="5056631"/>
            <a:ext cx="1065276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100" b="1">
                <a:solidFill>
                  <a:srgbClr val="5CD4B2"/>
                </a:solidFill>
                <a:latin typeface="Aptos"/>
              </a:rPr>
              <a:t>Rust - rust-crud-rest-api</a:t>
            </a:r>
          </a:p>
        </p:txBody>
      </p:sp>
      <p:sp>
        <p:nvSpPr>
          <p:cNvPr id="17" name="TextBox 16">
            <a:hlinkClick r:id="rId6"/>
          </p:cNvPr>
          <p:cNvSpPr txBox="1"/>
          <p:nvPr/>
        </p:nvSpPr>
        <p:spPr>
          <a:xfrm>
            <a:off x="777240" y="5422392"/>
            <a:ext cx="1065276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200" b="0">
                <a:solidFill>
                  <a:srgbClr val="B4C1D3"/>
                </a:solidFill>
                <a:latin typeface="Aptos"/>
              </a:rPr>
              <a:t>github.com/MikAoJk/rust-crud-rest-api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CRUD-ytelse: Rust, Kotlin og C#</dc:title>
  <dc:subject>Lokale k6-målingar frå README.md</dc:subject>
  <dc:creator>MikAoJk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nn-NO</dc:language>
</cp:coreProperties>
</file>